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4" r:id="rId6"/>
    <p:sldId id="265" r:id="rId7"/>
    <p:sldId id="266" r:id="rId8"/>
    <p:sldId id="259" r:id="rId9"/>
    <p:sldId id="267" r:id="rId10"/>
    <p:sldId id="260" r:id="rId11"/>
    <p:sldId id="262" r:id="rId12"/>
    <p:sldId id="26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EDC43-3D56-4BC8-9602-06924685E72A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05AAA-94D6-4F12-B9BB-B077B9BBA9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78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05AAA-94D6-4F12-B9BB-B077B9BBA9C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7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5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867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28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25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367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3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827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0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0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51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242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16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458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875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5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566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22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75BBFE-0AAA-4703-B3E3-B7903AF87444}" type="datetimeFigureOut">
              <a:rPr lang="en-IN" smtClean="0"/>
              <a:t>10-10-2025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0F5D7F-FF0C-4DBB-BB00-18F1B2375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92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4C50E-9B01-78C8-4FBF-545575E7F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Credit Risk Prediction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75652-F45A-3F69-3D50-04BF2CAE39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Shreeja S Maiya</a:t>
            </a:r>
          </a:p>
          <a:p>
            <a:r>
              <a:rPr lang="en-US" dirty="0"/>
              <a:t>AI ML Intern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8AC2E-18BD-ED85-67B2-0315B666F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809" y="260743"/>
            <a:ext cx="188621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6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B9B9-23C5-D067-9F58-AAF3C268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4D320-4DF4-688C-487F-97B49F918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2099"/>
            <a:ext cx="10018713" cy="3124201"/>
          </a:xfrm>
        </p:spPr>
        <p:txBody>
          <a:bodyPr/>
          <a:lstStyle/>
          <a:p>
            <a:r>
              <a:rPr lang="en-US" dirty="0"/>
              <a:t>Banks and financial institutions face </a:t>
            </a:r>
            <a:r>
              <a:rPr lang="en-US" b="1" dirty="0"/>
              <a:t>loan default risk</a:t>
            </a:r>
          </a:p>
          <a:p>
            <a:r>
              <a:rPr lang="en-US" dirty="0"/>
              <a:t>Manual credit evaluation is </a:t>
            </a:r>
            <a:r>
              <a:rPr lang="en-US" b="1" dirty="0"/>
              <a:t>time-consuming and subjective</a:t>
            </a:r>
            <a:r>
              <a:rPr lang="en-US" dirty="0"/>
              <a:t>.</a:t>
            </a:r>
          </a:p>
          <a:p>
            <a:r>
              <a:rPr lang="en-US" b="1" dirty="0"/>
              <a:t>Objective:</a:t>
            </a:r>
            <a:r>
              <a:rPr lang="en-US" dirty="0"/>
              <a:t> Build an AI model to predict credit risk efficiently.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FE95B-0C58-57C6-986B-FC21D2041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140" y="422433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78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14E3-2FAA-A17D-F9B5-1E593F61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370D-232E-2923-8260-D6D07C687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961" y="2175386"/>
            <a:ext cx="10018713" cy="3124201"/>
          </a:xfrm>
        </p:spPr>
        <p:txBody>
          <a:bodyPr/>
          <a:lstStyle/>
          <a:p>
            <a:r>
              <a:rPr lang="en-US" b="1" dirty="0"/>
              <a:t>Dataset:</a:t>
            </a:r>
            <a:r>
              <a:rPr lang="en-US" dirty="0"/>
              <a:t> Kaggle Credit Risk </a:t>
            </a:r>
            <a:r>
              <a:rPr lang="en-US" dirty="0" err="1"/>
              <a:t>Dataset.Loan</a:t>
            </a:r>
            <a:r>
              <a:rPr lang="en-US" dirty="0"/>
              <a:t> applications + synthetic data (CTGAN).</a:t>
            </a:r>
          </a:p>
          <a:p>
            <a:r>
              <a:rPr lang="en-US" b="1" dirty="0" err="1"/>
              <a:t>Challenges:</a:t>
            </a:r>
            <a:r>
              <a:rPr lang="en-US" dirty="0" err="1"/>
              <a:t>Class</a:t>
            </a:r>
            <a:r>
              <a:rPr lang="en-US" dirty="0"/>
              <a:t> imbalance (few defaults vs many non-defaults) and Feature complexity and correlations</a:t>
            </a:r>
          </a:p>
          <a:p>
            <a:r>
              <a:rPr lang="en-US" b="1" dirty="0"/>
              <a:t>Solution:</a:t>
            </a:r>
            <a:r>
              <a:rPr lang="en-US" dirty="0"/>
              <a:t> Synthetic data generation to balance the dataset.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959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24C2BB-5B5F-C06C-9F86-6F6AED39C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122" y="258097"/>
            <a:ext cx="4227871" cy="634180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A585DF8-8F18-68CC-A688-DAEABF3C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4" y="1378973"/>
            <a:ext cx="5426158" cy="1371600"/>
          </a:xfrm>
        </p:spPr>
        <p:txBody>
          <a:bodyPr/>
          <a:lstStyle/>
          <a:p>
            <a:r>
              <a:rPr lang="en-US" dirty="0"/>
              <a:t>Methodology and Workflow Diagram</a:t>
            </a:r>
            <a:endParaRPr lang="en-IN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C05170-5358-EA04-08BF-6B83097D2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H="1">
            <a:off x="7521676" y="5574889"/>
            <a:ext cx="73005" cy="45719"/>
          </a:xfrm>
        </p:spPr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6D2772-A88B-0474-5DBD-6CDDB7DAE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/>
              <a:t>The overall methodology followed in this project combines </a:t>
            </a:r>
            <a:r>
              <a:rPr lang="en-IN" b="1" dirty="0"/>
              <a:t>data collection , data analysis</a:t>
            </a:r>
            <a:r>
              <a:rPr lang="en-IN" dirty="0"/>
              <a:t>, </a:t>
            </a:r>
            <a:r>
              <a:rPr lang="en-IN" b="1" dirty="0"/>
              <a:t>data balancing</a:t>
            </a:r>
            <a:r>
              <a:rPr lang="en-IN" dirty="0"/>
              <a:t>, </a:t>
            </a:r>
            <a:r>
              <a:rPr lang="en-IN" b="1" dirty="0"/>
              <a:t>model building</a:t>
            </a:r>
            <a:r>
              <a:rPr lang="en-IN" dirty="0"/>
              <a:t>, and </a:t>
            </a:r>
            <a:r>
              <a:rPr lang="en-IN" b="1" dirty="0"/>
              <a:t>deployment</a:t>
            </a:r>
            <a:r>
              <a:rPr lang="en-IN" dirty="0"/>
              <a:t>. The workflow is designed to systematically move from raw data understanding to a fully functional predictive dashboard.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08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900E-4AD5-AB2F-C76B-66A20F99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DD92-94B4-E311-FB86-1E2697C6C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988" y="2438399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EDA revealed that</a:t>
            </a:r>
          </a:p>
          <a:p>
            <a:r>
              <a:rPr lang="en-IN" dirty="0"/>
              <a:t>The dataset is </a:t>
            </a:r>
            <a:r>
              <a:rPr lang="en-IN" b="1" dirty="0"/>
              <a:t>imbalanced</a:t>
            </a:r>
            <a:r>
              <a:rPr lang="en-IN" dirty="0"/>
              <a:t>.</a:t>
            </a:r>
          </a:p>
          <a:p>
            <a:r>
              <a:rPr lang="en-IN" b="1" dirty="0" err="1"/>
              <a:t>loan_int_rate</a:t>
            </a:r>
            <a:r>
              <a:rPr lang="en-IN" dirty="0"/>
              <a:t> and </a:t>
            </a:r>
            <a:r>
              <a:rPr lang="en-IN" b="1" dirty="0" err="1"/>
              <a:t>loan_percent_income</a:t>
            </a:r>
            <a:r>
              <a:rPr lang="en-IN" dirty="0"/>
              <a:t> are strong indicators of credit risk.</a:t>
            </a:r>
          </a:p>
          <a:p>
            <a:r>
              <a:rPr lang="en-IN" b="1" dirty="0"/>
              <a:t>High loan amount and low income</a:t>
            </a:r>
            <a:r>
              <a:rPr lang="en-IN" dirty="0"/>
              <a:t> increase default probability</a:t>
            </a:r>
          </a:p>
          <a:p>
            <a:r>
              <a:rPr lang="en-IN" dirty="0"/>
              <a:t>Relationships are </a:t>
            </a:r>
            <a:r>
              <a:rPr lang="en-IN" b="1" dirty="0"/>
              <a:t>non-linear</a:t>
            </a:r>
            <a:r>
              <a:rPr lang="en-IN" dirty="0"/>
              <a:t>, supporting the choice of </a:t>
            </a:r>
            <a:r>
              <a:rPr lang="en-IN" b="1" dirty="0" err="1"/>
              <a:t>XGBoost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88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114A86-8E4B-C27C-4427-25F385E72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1" y="688472"/>
            <a:ext cx="6620269" cy="4379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0D77AF-EBE2-F611-73F4-75EC44BA9950}"/>
              </a:ext>
            </a:extLst>
          </p:cNvPr>
          <p:cNvSpPr txBox="1"/>
          <p:nvPr/>
        </p:nvSpPr>
        <p:spPr>
          <a:xfrm>
            <a:off x="3243065" y="5392779"/>
            <a:ext cx="6916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Loan Distribution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617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BDAE7-F228-0559-F5E7-A12BD1310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882" y="133418"/>
            <a:ext cx="7690119" cy="51071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A23CED-7C70-551E-1FBA-F675AF47D5EC}"/>
              </a:ext>
            </a:extLst>
          </p:cNvPr>
          <p:cNvSpPr txBox="1"/>
          <p:nvPr/>
        </p:nvSpPr>
        <p:spPr>
          <a:xfrm>
            <a:off x="2989006" y="5380672"/>
            <a:ext cx="7275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 correlation heatmap: </a:t>
            </a:r>
            <a:r>
              <a:rPr lang="en-US" b="1" dirty="0" err="1"/>
              <a:t>loan_percent_income</a:t>
            </a:r>
            <a:r>
              <a:rPr lang="en-US" dirty="0"/>
              <a:t> and </a:t>
            </a:r>
            <a:r>
              <a:rPr lang="en-US" b="1" dirty="0" err="1"/>
              <a:t>loan_int_rate</a:t>
            </a:r>
            <a:r>
              <a:rPr lang="en-US" dirty="0"/>
              <a:t> have the </a:t>
            </a:r>
            <a:r>
              <a:rPr lang="en-US" b="1" dirty="0"/>
              <a:t>strongest positive</a:t>
            </a:r>
            <a:r>
              <a:rPr lang="en-US" dirty="0"/>
              <a:t> linear correlation with </a:t>
            </a:r>
            <a:r>
              <a:rPr lang="en-US" dirty="0" err="1"/>
              <a:t>loan_status</a:t>
            </a:r>
            <a:r>
              <a:rPr lang="en-US" dirty="0"/>
              <a:t> (default). Higher values in these features mean higher default risk.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464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517B-C888-7EDC-D369-00C94A9C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6645"/>
            <a:ext cx="10018713" cy="1752599"/>
          </a:xfrm>
        </p:spPr>
        <p:txBody>
          <a:bodyPr/>
          <a:lstStyle/>
          <a:p>
            <a:r>
              <a:rPr lang="en-IN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A4177-1E50-C270-F9AE-536CD0FE2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1270819"/>
            <a:ext cx="10018713" cy="3124201"/>
          </a:xfrm>
        </p:spPr>
        <p:txBody>
          <a:bodyPr/>
          <a:lstStyle/>
          <a:p>
            <a:r>
              <a:rPr lang="en-IN" b="1" dirty="0"/>
              <a:t>Algorithm:</a:t>
            </a:r>
            <a:r>
              <a:rPr lang="en-IN" dirty="0"/>
              <a:t> </a:t>
            </a:r>
            <a:r>
              <a:rPr lang="en-IN" dirty="0" err="1"/>
              <a:t>XGBoost</a:t>
            </a:r>
            <a:r>
              <a:rPr lang="en-IN" dirty="0"/>
              <a:t> (best performance)</a:t>
            </a:r>
          </a:p>
          <a:p>
            <a:r>
              <a:rPr lang="en-US" b="1" dirty="0"/>
              <a:t>Pipeline:</a:t>
            </a:r>
            <a:r>
              <a:rPr lang="en-US" dirty="0"/>
              <a:t> Data preprocessing → Feature selection → Model training → Evaluation</a:t>
            </a:r>
          </a:p>
          <a:p>
            <a:r>
              <a:rPr lang="en-US" b="1" dirty="0"/>
              <a:t>Metrics: </a:t>
            </a:r>
            <a:r>
              <a:rPr lang="en-US" dirty="0"/>
              <a:t>AUC: 0.98, Recall improvement: +17% over baseline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4040D-E924-1FA6-93FF-732F379FA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37" y="3539613"/>
            <a:ext cx="4795247" cy="2955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FC4A1E-B16B-203B-7E28-A3EFF998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497" y="3539613"/>
            <a:ext cx="3896768" cy="295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81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033C-F267-6767-9F04-9ACC31B7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of deployment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8B4C-6321-C355-57CD-1707B2034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49244"/>
            <a:ext cx="10018713" cy="312420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Below is the step-by-step workflow of deployment:</a:t>
            </a:r>
          </a:p>
          <a:p>
            <a:pPr lvl="0"/>
            <a:r>
              <a:rPr lang="en-IN" b="1" dirty="0"/>
              <a:t>Model Export</a:t>
            </a:r>
            <a:r>
              <a:rPr lang="en-IN" dirty="0"/>
              <a:t> – Save the trained model with pickle.</a:t>
            </a:r>
          </a:p>
          <a:p>
            <a:pPr lvl="0"/>
            <a:r>
              <a:rPr lang="en-IN" b="1" dirty="0"/>
              <a:t>App Creation</a:t>
            </a:r>
            <a:r>
              <a:rPr lang="en-IN" dirty="0"/>
              <a:t> – Write app.py using </a:t>
            </a:r>
            <a:r>
              <a:rPr lang="en-IN" dirty="0" err="1"/>
              <a:t>Streamlit</a:t>
            </a:r>
            <a:r>
              <a:rPr lang="en-IN" dirty="0"/>
              <a:t> for the frontend interface.</a:t>
            </a:r>
          </a:p>
          <a:p>
            <a:pPr lvl="0"/>
            <a:r>
              <a:rPr lang="en-IN" b="1" dirty="0"/>
              <a:t>Integration</a:t>
            </a:r>
            <a:r>
              <a:rPr lang="en-IN" dirty="0"/>
              <a:t> – Load the model and handle user inputs for prediction.</a:t>
            </a:r>
          </a:p>
          <a:p>
            <a:pPr lvl="0"/>
            <a:r>
              <a:rPr lang="en-IN" b="1" dirty="0"/>
              <a:t>Testing</a:t>
            </a:r>
            <a:r>
              <a:rPr lang="en-IN" dirty="0"/>
              <a:t> – Validate predictions with test inputs.</a:t>
            </a:r>
          </a:p>
          <a:p>
            <a:pPr lvl="0"/>
            <a:r>
              <a:rPr lang="en-IN" b="1" dirty="0"/>
              <a:t>Hosting</a:t>
            </a:r>
            <a:r>
              <a:rPr lang="en-IN" dirty="0"/>
              <a:t> – Locally via </a:t>
            </a:r>
            <a:r>
              <a:rPr lang="en-IN" dirty="0" err="1"/>
              <a:t>streamlit</a:t>
            </a:r>
            <a:r>
              <a:rPr lang="en-IN" dirty="0"/>
              <a:t> run app.py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05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29FA-0837-7AB4-7633-5948E36C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4646" y="459658"/>
            <a:ext cx="10018713" cy="1752599"/>
          </a:xfrm>
        </p:spPr>
        <p:txBody>
          <a:bodyPr/>
          <a:lstStyle/>
          <a:p>
            <a:r>
              <a:rPr lang="en-IN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F1B54-9650-7646-7754-28DDB47BA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438" y="897192"/>
            <a:ext cx="10018713" cy="3124201"/>
          </a:xfrm>
        </p:spPr>
        <p:txBody>
          <a:bodyPr/>
          <a:lstStyle/>
          <a:p>
            <a:r>
              <a:rPr lang="en-US" b="1" dirty="0" err="1"/>
              <a:t>Streamlit</a:t>
            </a:r>
            <a:r>
              <a:rPr lang="en-US" b="1" dirty="0"/>
              <a:t> App:</a:t>
            </a:r>
            <a:r>
              <a:rPr lang="en-US" dirty="0"/>
              <a:t> Interactive web tool for real-time loan predictions</a:t>
            </a:r>
          </a:p>
          <a:p>
            <a:r>
              <a:rPr lang="en-US" b="1" dirty="0"/>
              <a:t>Features:</a:t>
            </a:r>
            <a:r>
              <a:rPr lang="en-US" dirty="0"/>
              <a:t> User-friendly interface, instant risk score, visual insights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7BE48-EA3E-8117-95F2-582AFF2D8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1" y="2934926"/>
            <a:ext cx="6499123" cy="324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6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182C-E9D5-EE3F-F328-DDC1F893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5516-2452-ECFD-18C8-4B1C3012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110" y="1866899"/>
            <a:ext cx="10018713" cy="3124201"/>
          </a:xfrm>
        </p:spPr>
        <p:txBody>
          <a:bodyPr/>
          <a:lstStyle/>
          <a:p>
            <a:r>
              <a:rPr lang="en-US" dirty="0"/>
              <a:t>Developed an end-to-end </a:t>
            </a:r>
            <a:r>
              <a:rPr lang="en-US" b="1" dirty="0"/>
              <a:t>credit risk prediction system</a:t>
            </a:r>
          </a:p>
          <a:p>
            <a:r>
              <a:rPr lang="en-US" dirty="0"/>
              <a:t>Addressed </a:t>
            </a:r>
            <a:r>
              <a:rPr lang="en-US" b="1" dirty="0"/>
              <a:t>class imbalance</a:t>
            </a:r>
            <a:r>
              <a:rPr lang="en-US" dirty="0"/>
              <a:t> and improved </a:t>
            </a:r>
            <a:r>
              <a:rPr lang="en-US" b="1" dirty="0"/>
              <a:t>predictive accuracy</a:t>
            </a:r>
          </a:p>
          <a:p>
            <a:r>
              <a:rPr lang="en-US" b="1" dirty="0"/>
              <a:t>Business impact:</a:t>
            </a:r>
            <a:r>
              <a:rPr lang="en-US" dirty="0"/>
              <a:t> Faster, data-driven, reliable loan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472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6826-D3D2-CCE8-7B3C-E0DE7228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927A-A69D-2B06-6C01-2382F9B22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62099"/>
            <a:ext cx="10018713" cy="3124201"/>
          </a:xfrm>
        </p:spPr>
        <p:txBody>
          <a:bodyPr/>
          <a:lstStyle/>
          <a:p>
            <a:r>
              <a:rPr lang="en-IN" dirty="0"/>
              <a:t>Integrate </a:t>
            </a:r>
            <a:r>
              <a:rPr lang="en-IN" b="1" dirty="0"/>
              <a:t>real-time financial data</a:t>
            </a:r>
          </a:p>
          <a:p>
            <a:r>
              <a:rPr lang="en-US" dirty="0"/>
              <a:t>Explore </a:t>
            </a:r>
            <a:r>
              <a:rPr lang="en-US" b="1" dirty="0"/>
              <a:t>deep learning &amp; ensemble models</a:t>
            </a:r>
          </a:p>
          <a:p>
            <a:r>
              <a:rPr lang="en-US" dirty="0"/>
              <a:t>Improve </a:t>
            </a:r>
            <a:r>
              <a:rPr lang="en-US" b="1" dirty="0"/>
              <a:t>interpretability</a:t>
            </a:r>
            <a:r>
              <a:rPr lang="en-US" dirty="0"/>
              <a:t> with SHAP/LIME</a:t>
            </a:r>
          </a:p>
          <a:p>
            <a:r>
              <a:rPr lang="en-US" dirty="0"/>
              <a:t>Cloud-based deployment with </a:t>
            </a:r>
            <a:r>
              <a:rPr lang="en-US" b="1" dirty="0"/>
              <a:t>API integration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A58C3-8E07-A284-78EA-9A0DA4D56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29" y="2033509"/>
            <a:ext cx="3096494" cy="333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32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DCB7-1C38-CEA9-66AB-04FC7A793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479" y="2552700"/>
            <a:ext cx="10018713" cy="1752599"/>
          </a:xfrm>
        </p:spPr>
        <p:txBody>
          <a:bodyPr>
            <a:normAutofit/>
          </a:bodyPr>
          <a:lstStyle/>
          <a:p>
            <a:r>
              <a:rPr lang="en-US" sz="5400" dirty="0"/>
              <a:t>Thank you!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706819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60</TotalTime>
  <Words>393</Words>
  <Application>Microsoft Office PowerPoint</Application>
  <PresentationFormat>Widescreen</PresentationFormat>
  <Paragraphs>48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Corbel</vt:lpstr>
      <vt:lpstr>Parallax</vt:lpstr>
      <vt:lpstr>Credit Risk Prediction Model</vt:lpstr>
      <vt:lpstr>Problem Statement</vt:lpstr>
      <vt:lpstr>Data &amp; Challenges</vt:lpstr>
      <vt:lpstr>Methodology and Workflow Diagram</vt:lpstr>
      <vt:lpstr>Exploratory Data Analysis </vt:lpstr>
      <vt:lpstr>PowerPoint Presentation</vt:lpstr>
      <vt:lpstr>PowerPoint Presentation</vt:lpstr>
      <vt:lpstr>Model Development</vt:lpstr>
      <vt:lpstr>Workflow of deployment</vt:lpstr>
      <vt:lpstr>Deployment</vt:lpstr>
      <vt:lpstr>Conclusion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shreejamaiya0156@gmail.com</dc:creator>
  <cp:lastModifiedBy>shreejamaiya0156@gmail.com</cp:lastModifiedBy>
  <cp:revision>1</cp:revision>
  <dcterms:created xsi:type="dcterms:W3CDTF">2025-10-10T12:45:44Z</dcterms:created>
  <dcterms:modified xsi:type="dcterms:W3CDTF">2025-10-10T13:46:19Z</dcterms:modified>
</cp:coreProperties>
</file>